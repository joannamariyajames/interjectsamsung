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200" b="1">
                <a:solidFill>
                  <a:srgbClr val="14142B"/>
                </a:solidFill>
              </a:rPr>
              <a:t>Full-Duplex-Bench v3, 100 recordings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Audio through LiveKit (scored run)</c:v>
                </c:pt>
              </c:strCache>
            </c:strRef>
          </c:tx>
          <c:spPr>
            <a:solidFill>
              <a:srgbClr val="6D28D9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Strict pass</c:v>
                </c:pt>
                <c:pt idx="1">
                  <c:v>Right tool</c:v>
                </c:pt>
                <c:pt idx="2">
                  <c:v>Right values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56</c:v>
                </c:pt>
                <c:pt idx="1">
                  <c:v>90.1</c:v>
                </c:pt>
                <c:pt idx="2">
                  <c:v>66.7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65E-42CC-8087-196C39DC8C5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Text replay (same agent, no audio)</c:v>
                </c:pt>
              </c:strCache>
            </c:strRef>
          </c:tx>
          <c:spPr>
            <a:solidFill>
              <a:srgbClr val="C4B0EE"/>
            </a:solidFill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/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Strict pass</c:v>
                </c:pt>
                <c:pt idx="1">
                  <c:v>Right tool</c:v>
                </c:pt>
                <c:pt idx="2">
                  <c:v>Right values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69</c:v>
                </c:pt>
                <c:pt idx="1">
                  <c:v>97</c:v>
                </c:pt>
                <c:pt idx="2">
                  <c:v>78.099999999999994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A65E-42CC-8087-196C39DC8C5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-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E2D9F6"/>
            </a:solidFill>
          </a:ln>
        </c:spPr>
        <c:txPr>
          <a:bodyPr/>
          <a:lstStyle/>
          <a:p>
            <a:pPr>
              <a:defRPr sz="1200">
                <a:solidFill>
                  <a:srgbClr val="14142B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legend>
      <c:legendPos val="b"/>
      <c:overlay val="0"/>
      <c:txPr>
        <a:bodyPr/>
        <a:lstStyle/>
        <a:p>
          <a:pPr>
            <a:defRPr sz="1050">
              <a:solidFill>
                <a:srgbClr val="63637E"/>
              </a:solidFill>
            </a:defRPr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Closing slide. Add the Google Form URL and a contact email before sharing. Edition 2 organising team for reference: Language AI - Sourabh Tiwari, Gaurav, Sanjeeth Pothireddy, Gorang Maniar; PRISM - Binny Lakra, Prakhar Chandrakar, Vishu Kumar; Kick-off and mentors - Giridhar Jakki, Deepraj Prabhakar Patkar (Language AI), Srimanu Prasad Nagaraju, Ashish Kumar (Tech Strategy).</a:t>
            </a:r>
            <a:endParaRPr/>
          </a:p>
        </p:txBody>
      </p:sp>
      <p:sp>
        <p:nvSpPr>
          <p:cNvPr id="160" name="Google Shape;16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5" name="Google Shape;2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2" name="Google Shape;62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0" name="Google Shape;7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 cap="flat" cmpd="sng">
            <a:solidFill>
              <a:srgbClr val="D9D3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lang="en-US" sz="11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lang="en-US" sz="5000" b="1" i="0" u="none" strike="noStrike" cap="non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sz="5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lang="en-US" sz="25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lang="en-US" sz="20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sz="2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39" y="3310127"/>
            <a:ext cx="6758093" cy="3124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177800" marR="0" lvl="0" indent="-17780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- 05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–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SamSung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, We Coded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– MS Ramaiah Institute Of technology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P Nishant &amp; 1ms25cs127@msrit.edu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Joanna Mariya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James &amp; 1ms25cs073@msrit.edu</a:t>
            </a:r>
            <a:endParaRPr dirty="0"/>
          </a:p>
          <a:p>
            <a:pPr marL="177800" marR="0" lvl="0" indent="-177800" algn="l" rtl="0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Lakshya Jaiswal &amp; 1ms25cs090@msrit.edu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Pranav Agrawal &amp; 1ms25ad048@msrit.edu</a:t>
            </a:r>
            <a:endParaRPr dirty="0"/>
          </a:p>
          <a:p>
            <a:pPr marL="177800" lvl="0" indent="-177800">
              <a:spcBef>
                <a:spcPts val="500"/>
              </a:spcBef>
              <a:buClr>
                <a:srgbClr val="63637E"/>
              </a:buClr>
              <a:buSzPts val="1600"/>
              <a:buFont typeface="Calibri"/>
              <a:buChar char="•"/>
            </a:pP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</a:t>
            </a:r>
            <a:r>
              <a:rPr lang="en-US" sz="1600" b="0" i="0" u="none" strike="noStrike" cap="none" dirty="0" err="1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Github</a:t>
            </a:r>
            <a:r>
              <a:rPr lang="en-US" sz="1600" b="0" i="0" u="none" strike="noStrike" cap="none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link - </a:t>
            </a:r>
            <a:r>
              <a:rPr lang="en-US" sz="16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https://github.com/joannamariyajames/interjectsamsung</a:t>
            </a:r>
            <a:endParaRPr dirty="0"/>
          </a:p>
          <a:p>
            <a:pPr marL="177800" marR="0" lvl="0" indent="-762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endParaRPr sz="1600" b="0" i="0" u="none" strike="noStrike" cap="none" dirty="0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1" descr="hero_network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Rounded Rectangle 101"/>
          <p:cNvSpPr/>
          <p:nvPr/>
        </p:nvSpPr>
        <p:spPr>
          <a:xfrm>
            <a:off x="868680" y="1481328"/>
            <a:ext cx="4206240" cy="292608"/>
          </a:xfrm>
          <a:prstGeom prst="roundRect">
            <a:avLst>
              <a:gd name="adj" fmla="val 50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/>
            <a:r>
              <a:rPr sz="1050" b="1" i="0">
                <a:solidFill>
                  <a:srgbClr val="6D28D9"/>
                </a:solidFill>
                <a:latin typeface="Calibri"/>
              </a:rPr>
              <a:t>THEME 05  ·  INTERRUPTIBLE REAL-TIME AGENTS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68680" y="1920240"/>
            <a:ext cx="10424160" cy="11887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14142B"/>
                </a:solidFill>
                <a:latin typeface="Calibri"/>
              </a:rPr>
              <a:t>People don't talk in turns. They pause, change their minds and cut in.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63637E"/>
                </a:solidFill>
                <a:latin typeface="Calibri"/>
              </a:rPr>
              <a:t>A voice agent has to keep up — without going silent, redoing work or acting on what the user took back.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868680" y="3246120"/>
            <a:ext cx="3291840" cy="1874519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097280" y="3456432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91640" y="3493008"/>
            <a:ext cx="237744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Stay responsive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97280" y="4069080"/>
            <a:ext cx="2880360" cy="10058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Acknowledge at once. Never go silent while thinking, and never say something is done before it is.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4434840" y="3246120"/>
            <a:ext cx="3291840" cy="1874519"/>
          </a:xfrm>
          <a:prstGeom prst="roundRect">
            <a:avLst>
              <a:gd name="adj" fmla="val 120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4663440" y="3456432"/>
            <a:ext cx="457200" cy="457200"/>
          </a:xfrm>
          <a:prstGeom prst="ellipse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257800" y="3493008"/>
            <a:ext cx="237744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Work asynchronously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63440" y="4069080"/>
            <a:ext cx="2880360" cy="10058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Start retrieval and tools while the user is still speaking. Stream the answer and keep it interruptible.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001000" y="3246120"/>
            <a:ext cx="3291840" cy="1874519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8229600" y="3456432"/>
            <a:ext cx="457200" cy="457200"/>
          </a:xfrm>
          <a:prstGeom prst="ellipse">
            <a:avLst/>
          </a:prstGeom>
          <a:solidFill>
            <a:srgbClr val="2F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823960" y="3493008"/>
            <a:ext cx="237744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1" i="0">
                <a:solidFill>
                  <a:srgbClr val="14142B"/>
                </a:solidFill>
                <a:latin typeface="Calibri"/>
              </a:rPr>
              <a:t>Recover cleanly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229600" y="4069080"/>
            <a:ext cx="2880360" cy="10058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0" i="0">
                <a:solidFill>
                  <a:srgbClr val="63637E"/>
                </a:solidFill>
                <a:latin typeface="Calibri"/>
              </a:rPr>
              <a:t>When cut off or corrected, drop the stale work, keep what is still useful, and never run an action twice.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868680" y="5394960"/>
            <a:ext cx="10469880" cy="868680"/>
          </a:xfrm>
          <a:prstGeom prst="roundRect">
            <a:avLst>
              <a:gd name="adj" fmla="val 20000"/>
            </a:avLst>
          </a:prstGeom>
          <a:noFill/>
          <a:ln w="12700">
            <a:solidFill>
              <a:srgbClr val="E2D9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097280" y="5504688"/>
            <a:ext cx="10058400" cy="7315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14142B"/>
                </a:solidFill>
                <a:latin typeface="Calibri"/>
              </a:rPr>
              <a:t>Measured on Full-Duplex-Bench v3: </a:t>
            </a:r>
            <a:r>
              <a:rPr sz="1300" b="0" i="0">
                <a:solidFill>
                  <a:srgbClr val="63637E"/>
                </a:solidFill>
                <a:latin typeface="Calibri"/>
              </a:rPr>
              <a:t>100 real recordings full of pauses, fillers, hesitations, false starts and self-corrections, across 4 domains (e-commerce, finance, housing, travel) and 12 tools. The agent must call the right tool with the user's final intent.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868680" y="1572768"/>
            <a:ext cx="1046988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0" i="0">
                <a:solidFill>
                  <a:srgbClr val="14142B"/>
                </a:solidFill>
                <a:latin typeface="Calibri"/>
              </a:rPr>
              <a:t>Today's voice agents are built for turn-taking. Interruptions are treated as noise, not as a signal.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868680" y="2148840"/>
            <a:ext cx="2670048" cy="438912"/>
          </a:xfrm>
          <a:prstGeom prst="rect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78407" y="2212848"/>
            <a:ext cx="246888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Approach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611880" y="2148840"/>
            <a:ext cx="2990088" cy="438912"/>
          </a:xfrm>
          <a:prstGeom prst="rect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3721608" y="2212848"/>
            <a:ext cx="278892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How it works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675120" y="2148840"/>
            <a:ext cx="4590288" cy="438912"/>
          </a:xfrm>
          <a:prstGeom prst="rect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6784848" y="2212848"/>
            <a:ext cx="438912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Gap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68680" y="2660904"/>
            <a:ext cx="2670048" cy="804672"/>
          </a:xfrm>
          <a:prstGeom prst="rect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78407" y="2734056"/>
            <a:ext cx="2468880" cy="7772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14142B"/>
                </a:solidFill>
                <a:latin typeface="Calibri"/>
              </a:rPr>
              <a:t>Turn-based voice pipelines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3611880" y="2660904"/>
            <a:ext cx="2990088" cy="804672"/>
          </a:xfrm>
          <a:prstGeom prst="rect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3721608" y="2734056"/>
            <a:ext cx="2788920" cy="7772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Wait for silence → speech-to-text → LLM → speech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675120" y="2660904"/>
            <a:ext cx="4590288" cy="804672"/>
          </a:xfrm>
          <a:prstGeom prst="rect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6784848" y="2734056"/>
            <a:ext cx="4389120" cy="7772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A mid-sentence pause ends the turn early, so the agent acts on half a request. Dead air while the model thinks. Barge-in just stops the audio and throws the work away.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868680" y="3529584"/>
            <a:ext cx="267004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978407" y="3602736"/>
            <a:ext cx="2468880" cy="7772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14142B"/>
                </a:solidFill>
                <a:latin typeface="Calibri"/>
              </a:rPr>
              <a:t>Speech-to-speech realtime models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3611880" y="3529584"/>
            <a:ext cx="299008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4" name="TextBox 123"/>
          <p:cNvSpPr txBox="1"/>
          <p:nvPr/>
        </p:nvSpPr>
        <p:spPr>
          <a:xfrm>
            <a:off x="3721608" y="3602736"/>
            <a:ext cx="2788920" cy="7772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One model hears and speaks directly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675120" y="3529584"/>
            <a:ext cx="4590288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D9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6784848" y="3602736"/>
            <a:ext cx="4389120" cy="7772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Usually paid and closed. Little control over when tools fire, so a correction can still trigger the stale action. Hard to reproduce a score.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68680" y="4398264"/>
            <a:ext cx="2670048" cy="804672"/>
          </a:xfrm>
          <a:prstGeom prst="rect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978407" y="4471416"/>
            <a:ext cx="2468880" cy="7772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14142B"/>
                </a:solidFill>
                <a:latin typeface="Calibri"/>
              </a:rPr>
              <a:t>Chat assistants with tools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3611880" y="4398264"/>
            <a:ext cx="2990088" cy="804672"/>
          </a:xfrm>
          <a:prstGeom prst="rect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3721608" y="4471416"/>
            <a:ext cx="2788920" cy="7772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Text in, tool calls out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675120" y="4398264"/>
            <a:ext cx="4590288" cy="804672"/>
          </a:xfrm>
          <a:prstGeom prst="rect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2" name="TextBox 131"/>
          <p:cNvSpPr txBox="1"/>
          <p:nvPr/>
        </p:nvSpPr>
        <p:spPr>
          <a:xfrm>
            <a:off x="6784848" y="4471416"/>
            <a:ext cx="4389120" cy="7772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00" b="0" i="0">
                <a:solidFill>
                  <a:srgbClr val="63637E"/>
                </a:solidFill>
                <a:latin typeface="Calibri"/>
              </a:rPr>
              <a:t>Act on the first value heard. “Agra… actually no, Jaipur” can leave an Agra booking behind, or repeat an action twice.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68680" y="5394960"/>
            <a:ext cx="10469880" cy="868680"/>
          </a:xfrm>
          <a:prstGeom prst="roundRect">
            <a:avLst>
              <a:gd name="adj" fmla="val 20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097280" y="5486400"/>
            <a:ext cx="10058400" cy="7315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 i="0">
                <a:solidFill>
                  <a:srgbClr val="B45A09"/>
                </a:solidFill>
                <a:latin typeface="Calibri"/>
              </a:rPr>
              <a:t>The missing piece: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treat the interruption itself as a first-class event — stop at once, keep the useful work, drop what was superseded, and make every action happen at most once.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>
            <a:spLocks noGrp="1"/>
          </p:cNvSpPr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868680" y="1417320"/>
            <a:ext cx="1046988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0" i="0">
                <a:solidFill>
                  <a:srgbClr val="14142B"/>
                </a:solidFill>
                <a:latin typeface="Calibri"/>
              </a:rPr>
              <a:t>Interject: a LiveKit voice agent whose every tool call passes through BACKSPACE, our interruption-aware gate.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85800" y="2057400"/>
            <a:ext cx="1627632" cy="1097280"/>
          </a:xfrm>
          <a:prstGeom prst="roundRect">
            <a:avLst>
              <a:gd name="adj" fmla="val 120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758952" y="2167128"/>
            <a:ext cx="1481328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350" b="1" i="0">
                <a:solidFill>
                  <a:srgbClr val="14142B"/>
                </a:solidFill>
                <a:latin typeface="Calibri"/>
              </a:rPr>
              <a:t>You speak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58952" y="2532888"/>
            <a:ext cx="1481328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pauses, fillers,</a:t>
            </a:r>
          </a:p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self-corrections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2496312" y="2057400"/>
            <a:ext cx="1627632" cy="109728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2569464" y="2167128"/>
            <a:ext cx="1481328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350" b="1" i="0">
                <a:solidFill>
                  <a:srgbClr val="14142B"/>
                </a:solidFill>
                <a:latin typeface="Calibri"/>
              </a:rPr>
              <a:t>LiveKit + Silero VAD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2569464" y="2532888"/>
            <a:ext cx="1481328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turn ends after</a:t>
            </a:r>
          </a:p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1.2 s of silence</a:t>
            </a:r>
          </a:p>
        </p:txBody>
      </p:sp>
      <p:sp>
        <p:nvSpPr>
          <p:cNvPr id="121" name="Rounded Rectangle 120"/>
          <p:cNvSpPr/>
          <p:nvPr/>
        </p:nvSpPr>
        <p:spPr>
          <a:xfrm>
            <a:off x="4306824" y="2057400"/>
            <a:ext cx="1627632" cy="109728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2" name="TextBox 121"/>
          <p:cNvSpPr txBox="1"/>
          <p:nvPr/>
        </p:nvSpPr>
        <p:spPr>
          <a:xfrm>
            <a:off x="4379976" y="2167128"/>
            <a:ext cx="1481328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350" b="1" i="0">
                <a:solidFill>
                  <a:srgbClr val="14142B"/>
                </a:solidFill>
                <a:latin typeface="Calibri"/>
              </a:rPr>
              <a:t>Groq Whisper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4379976" y="2532888"/>
            <a:ext cx="1481328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speech → text</a:t>
            </a:r>
          </a:p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(whisper-large-v3-turbo)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117336" y="2057400"/>
            <a:ext cx="1627632" cy="109728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6190488" y="2167128"/>
            <a:ext cx="1481328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350" b="1" i="0">
                <a:solidFill>
                  <a:srgbClr val="14142B"/>
                </a:solidFill>
                <a:latin typeface="Calibri"/>
              </a:rPr>
              <a:t>LLM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190488" y="2532888"/>
            <a:ext cx="1481328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NVIDIA gpt-oss-20b</a:t>
            </a:r>
          </a:p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backup: Groq gpt-oss-120b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7927848" y="2057400"/>
            <a:ext cx="1627632" cy="1097280"/>
          </a:xfrm>
          <a:prstGeom prst="roundRect">
            <a:avLst>
              <a:gd name="adj" fmla="val 12000"/>
            </a:avLst>
          </a:prstGeom>
          <a:solidFill>
            <a:srgbClr val="EAE0FB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8" name="TextBox 127"/>
          <p:cNvSpPr txBox="1"/>
          <p:nvPr/>
        </p:nvSpPr>
        <p:spPr>
          <a:xfrm>
            <a:off x="8001000" y="2167128"/>
            <a:ext cx="1481328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350" b="1" i="0">
                <a:solidFill>
                  <a:srgbClr val="14142B"/>
                </a:solidFill>
                <a:latin typeface="Calibri"/>
              </a:rPr>
              <a:t>BACKSPACE gate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01000" y="2532888"/>
            <a:ext cx="1481328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blocks stale calls,</a:t>
            </a:r>
          </a:p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at most once</a:t>
            </a:r>
          </a:p>
        </p:txBody>
      </p:sp>
      <p:sp>
        <p:nvSpPr>
          <p:cNvPr id="130" name="Rounded Rectangle 129"/>
          <p:cNvSpPr/>
          <p:nvPr/>
        </p:nvSpPr>
        <p:spPr>
          <a:xfrm>
            <a:off x="9738360" y="2057400"/>
            <a:ext cx="1627632" cy="109728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9811512" y="2167128"/>
            <a:ext cx="1481328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350" b="1" i="0">
                <a:solidFill>
                  <a:srgbClr val="14142B"/>
                </a:solidFill>
                <a:latin typeface="Calibri"/>
              </a:rPr>
              <a:t>12 benchmark tools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9811512" y="2532888"/>
            <a:ext cx="1481328" cy="5943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orders, flights, rates,</a:t>
            </a:r>
          </a:p>
          <a:p>
            <a:pPr algn="ctr"/>
            <a:r>
              <a:rPr sz="1050" b="0" i="0">
                <a:solidFill>
                  <a:srgbClr val="63637E"/>
                </a:solidFill>
                <a:latin typeface="Calibri"/>
              </a:rPr>
              <a:t>housing… (official)</a:t>
            </a:r>
          </a:p>
        </p:txBody>
      </p:sp>
      <p:cxnSp>
        <p:nvCxnSpPr>
          <p:cNvPr id="133" name="Connector 132"/>
          <p:cNvCxnSpPr/>
          <p:nvPr/>
        </p:nvCxnSpPr>
        <p:spPr>
          <a:xfrm>
            <a:off x="2331720" y="2606040"/>
            <a:ext cx="146304" cy="0"/>
          </a:xfrm>
          <a:prstGeom prst="line">
            <a:avLst/>
          </a:prstGeom>
          <a:ln w="2222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4142231" y="2606040"/>
            <a:ext cx="146305" cy="0"/>
          </a:xfrm>
          <a:prstGeom prst="line">
            <a:avLst/>
          </a:prstGeom>
          <a:ln w="2222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5952744" y="2606040"/>
            <a:ext cx="146304" cy="0"/>
          </a:xfrm>
          <a:prstGeom prst="line">
            <a:avLst/>
          </a:prstGeom>
          <a:ln w="2222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763255" y="2606040"/>
            <a:ext cx="146305" cy="0"/>
          </a:xfrm>
          <a:prstGeom prst="line">
            <a:avLst/>
          </a:prstGeom>
          <a:ln w="2222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9573767" y="2606040"/>
            <a:ext cx="146305" cy="0"/>
          </a:xfrm>
          <a:prstGeom prst="line">
            <a:avLst/>
          </a:prstGeom>
          <a:ln w="22225">
            <a:solidFill>
              <a:srgbClr val="6D28D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10552176" y="3182112"/>
            <a:ext cx="0" cy="274320"/>
          </a:xfrm>
          <a:prstGeom prst="line">
            <a:avLst/>
          </a:prstGeom>
          <a:ln w="22225">
            <a:solidFill>
              <a:srgbClr val="2F9E8A"/>
            </a:solidFill>
            <a:prstDash val="dash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H="1">
            <a:off x="7289231" y="3456432"/>
            <a:ext cx="3262945" cy="0"/>
          </a:xfrm>
          <a:prstGeom prst="line">
            <a:avLst/>
          </a:prstGeom>
          <a:ln w="22225">
            <a:solidFill>
              <a:srgbClr val="2F9E8A"/>
            </a:solidFill>
            <a:prstDash val="dash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7289231" y="3191256"/>
            <a:ext cx="0" cy="265176"/>
          </a:xfrm>
          <a:prstGeom prst="line">
            <a:avLst/>
          </a:prstGeom>
          <a:ln w="22225">
            <a:solidFill>
              <a:srgbClr val="2F9E8A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TextBox 140"/>
          <p:cNvSpPr txBox="1"/>
          <p:nvPr/>
        </p:nvSpPr>
        <p:spPr>
          <a:xfrm>
            <a:off x="8247888" y="3474720"/>
            <a:ext cx="109728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050" b="0" i="1">
                <a:solidFill>
                  <a:srgbClr val="2F9E8A"/>
                </a:solidFill>
                <a:latin typeface="Calibri"/>
              </a:rPr>
              <a:t>tool results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2496312" y="3730752"/>
            <a:ext cx="3438144" cy="512064"/>
          </a:xfrm>
          <a:prstGeom prst="roundRect">
            <a:avLst>
              <a:gd name="adj" fmla="val 200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54864" rIns="109728" bIns="54864" rtlCol="0" anchor="ctr"/>
          <a:lstStyle/>
          <a:p>
            <a:pPr algn="ctr"/>
            <a:r>
              <a:rPr sz="1250" b="1" i="0">
                <a:solidFill>
                  <a:srgbClr val="14142B"/>
                </a:solidFill>
                <a:latin typeface="Calibri"/>
              </a:rPr>
              <a:t>Piper voice, local </a:t>
            </a:r>
            <a:r>
              <a:rPr sz="1100" b="0" i="0">
                <a:solidFill>
                  <a:srgbClr val="63637E"/>
                </a:solidFill>
                <a:latin typeface="Calibri"/>
              </a:rPr>
              <a:t>· spoken reply, interruptible</a:t>
            </a:r>
          </a:p>
        </p:txBody>
      </p:sp>
      <p:cxnSp>
        <p:nvCxnSpPr>
          <p:cNvPr id="143" name="Connector 142"/>
          <p:cNvCxnSpPr/>
          <p:nvPr/>
        </p:nvCxnSpPr>
        <p:spPr>
          <a:xfrm>
            <a:off x="6573072" y="3182112"/>
            <a:ext cx="0" cy="804672"/>
          </a:xfrm>
          <a:prstGeom prst="line">
            <a:avLst/>
          </a:prstGeom>
          <a:ln w="22225">
            <a:solidFill>
              <a:srgbClr val="3B5BDB"/>
            </a:solidFill>
            <a:prstDash val="dash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H="1">
            <a:off x="5952744" y="3986784"/>
            <a:ext cx="620328" cy="0"/>
          </a:xfrm>
          <a:prstGeom prst="line">
            <a:avLst/>
          </a:prstGeom>
          <a:ln w="22225">
            <a:solidFill>
              <a:srgbClr val="3B5BD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TextBox 144"/>
          <p:cNvSpPr txBox="1"/>
          <p:nvPr/>
        </p:nvSpPr>
        <p:spPr>
          <a:xfrm>
            <a:off x="6627936" y="3438144"/>
            <a:ext cx="548640" cy="27432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050" b="0" i="1">
                <a:solidFill>
                  <a:srgbClr val="3B5BDB"/>
                </a:solidFill>
                <a:latin typeface="Calibri"/>
              </a:rPr>
              <a:t>reply</a:t>
            </a:r>
          </a:p>
        </p:txBody>
      </p:sp>
      <p:cxnSp>
        <p:nvCxnSpPr>
          <p:cNvPr id="146" name="Connector 145"/>
          <p:cNvCxnSpPr/>
          <p:nvPr/>
        </p:nvCxnSpPr>
        <p:spPr>
          <a:xfrm flipH="1">
            <a:off x="1499616" y="3986784"/>
            <a:ext cx="978408" cy="0"/>
          </a:xfrm>
          <a:prstGeom prst="line">
            <a:avLst/>
          </a:prstGeom>
          <a:ln w="22225">
            <a:solidFill>
              <a:srgbClr val="3B5BDB"/>
            </a:solidFill>
            <a:prstDash val="dash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1499616" y="3191256"/>
            <a:ext cx="0" cy="795528"/>
          </a:xfrm>
          <a:prstGeom prst="line">
            <a:avLst/>
          </a:prstGeom>
          <a:ln w="22225">
            <a:solidFill>
              <a:srgbClr val="3B5BDB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Rounded Rectangle 147"/>
          <p:cNvSpPr/>
          <p:nvPr/>
        </p:nvSpPr>
        <p:spPr>
          <a:xfrm>
            <a:off x="685800" y="4434840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685800" y="4599432"/>
            <a:ext cx="64008" cy="155448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914400" y="4526280"/>
            <a:ext cx="310896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50" b="1" i="0">
                <a:solidFill>
                  <a:srgbClr val="14142B"/>
                </a:solidFill>
                <a:latin typeface="Calibri"/>
              </a:rPr>
              <a:t>BACKSPACE gate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14400" y="4919472"/>
            <a:ext cx="3154680" cy="1371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A call whose inputs were superseded by a correction is blocked before it runs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Every action is committed at most once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Values normalised: spelled codes joined, dates kept as spoken</a:t>
            </a:r>
          </a:p>
        </p:txBody>
      </p:sp>
      <p:sp>
        <p:nvSpPr>
          <p:cNvPr id="152" name="Rounded Rectangle 151"/>
          <p:cNvSpPr/>
          <p:nvPr/>
        </p:nvSpPr>
        <p:spPr>
          <a:xfrm>
            <a:off x="4315968" y="4434840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4315968" y="4599432"/>
            <a:ext cx="64008" cy="1554480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4" name="TextBox 153"/>
          <p:cNvSpPr txBox="1"/>
          <p:nvPr/>
        </p:nvSpPr>
        <p:spPr>
          <a:xfrm>
            <a:off x="4544568" y="4526280"/>
            <a:ext cx="310896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50" b="1" i="0">
                <a:solidFill>
                  <a:srgbClr val="14142B"/>
                </a:solidFill>
                <a:latin typeface="Calibri"/>
              </a:rPr>
              <a:t>Built to stay up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544568" y="4919472"/>
            <a:ext cx="3154680" cy="1371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Backup LLM takes a turn when NVIDIA errors or stays silent for 10 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Turn ends after 1.2 s of silence, so a pause is not a finished request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Every call logged for the official evaluator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7946136" y="4434840"/>
            <a:ext cx="3474720" cy="1874519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7946136" y="4599432"/>
            <a:ext cx="64008" cy="1554480"/>
          </a:xfrm>
          <a:prstGeom prst="rect">
            <a:avLst/>
          </a:prstGeom>
          <a:solidFill>
            <a:srgbClr val="2F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8174736" y="4526280"/>
            <a:ext cx="3108960" cy="3657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50" b="1" i="0">
                <a:solidFill>
                  <a:srgbClr val="14142B"/>
                </a:solidFill>
                <a:latin typeface="Calibri"/>
              </a:rPr>
              <a:t>Same core in the web app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8174736" y="4919472"/>
            <a:ext cx="3154680" cy="13716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Retrieval starts on partial speech, before you finish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Cut in → turn cancelled, checkpoint kept; “go on” resumes</a:t>
            </a:r>
          </a:p>
          <a:p>
            <a:pPr algn="l">
              <a:spcAft>
                <a:spcPts val="3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Goal stack parks a detour; a harness refuses unsafe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sp>
        <p:nvSpPr>
          <p:cNvPr id="120" name="TextBox 119"/>
          <p:cNvSpPr txBox="1"/>
          <p:nvPr/>
        </p:nvSpPr>
        <p:spPr>
          <a:xfrm>
            <a:off x="868680" y="1417320"/>
            <a:ext cx="1046988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0" i="0">
                <a:solidFill>
                  <a:srgbClr val="14142B"/>
                </a:solidFill>
                <a:latin typeface="Calibri"/>
              </a:rPr>
              <a:t>Two live surfaces: the assistant you can talk over, and Drive, an in-car assistant built on the same core.</a:t>
            </a:r>
          </a:p>
        </p:txBody>
      </p:sp>
      <p:pic>
        <p:nvPicPr>
          <p:cNvPr id="121" name="Picture 120" descr="app_interru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65960"/>
            <a:ext cx="6355080" cy="3326954"/>
          </a:xfrm>
          <a:prstGeom prst="rect">
            <a:avLst/>
          </a:prstGeom>
          <a:ln>
            <a:solidFill>
              <a:srgbClr val="E2D9F6"/>
            </a:solidFill>
          </a:ln>
        </p:spPr>
      </p:pic>
      <p:sp>
        <p:nvSpPr>
          <p:cNvPr id="122" name="TextBox 121"/>
          <p:cNvSpPr txBox="1"/>
          <p:nvPr/>
        </p:nvSpPr>
        <p:spPr>
          <a:xfrm>
            <a:off x="685800" y="5347778"/>
            <a:ext cx="63550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150" b="1" i="0">
                <a:solidFill>
                  <a:srgbClr val="14142B"/>
                </a:solidFill>
                <a:latin typeface="Calibri"/>
              </a:rPr>
              <a:t>Assistant: </a:t>
            </a:r>
            <a:r>
              <a:rPr sz="1150" b="0" i="0">
                <a:solidFill>
                  <a:srgbClr val="63637E"/>
                </a:solidFill>
                <a:latin typeface="Calibri"/>
              </a:rPr>
              <a:t>cut in mid-answer → it stops at once (0.00 ms average time to yield), holds a checkpoint, and “go on” continues from the exact words.</a:t>
            </a:r>
          </a:p>
        </p:txBody>
      </p:sp>
      <p:pic>
        <p:nvPicPr>
          <p:cNvPr id="123" name="Picture 122" descr="drive_conv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1965960"/>
            <a:ext cx="4206240" cy="577146"/>
          </a:xfrm>
          <a:prstGeom prst="rect">
            <a:avLst/>
          </a:prstGeom>
          <a:ln>
            <a:solidFill>
              <a:srgbClr val="E2D9F6"/>
            </a:solidFill>
          </a:ln>
        </p:spPr>
      </p:pic>
      <p:pic>
        <p:nvPicPr>
          <p:cNvPr id="124" name="Picture 123" descr="drive_l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680265"/>
            <a:ext cx="2608460" cy="2788920"/>
          </a:xfrm>
          <a:prstGeom prst="rect">
            <a:avLst/>
          </a:prstGeom>
          <a:ln>
            <a:solidFill>
              <a:srgbClr val="E2D9F6"/>
            </a:solidFill>
          </a:ln>
        </p:spPr>
      </p:pic>
      <p:sp>
        <p:nvSpPr>
          <p:cNvPr id="125" name="TextBox 124"/>
          <p:cNvSpPr txBox="1"/>
          <p:nvPr/>
        </p:nvSpPr>
        <p:spPr>
          <a:xfrm>
            <a:off x="10088252" y="2725985"/>
            <a:ext cx="1478907" cy="2743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Drive</a:t>
            </a:r>
          </a:p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D28D9"/>
                </a:solidFill>
                <a:latin typeface="Calibri"/>
              </a:rPr>
              <a:t>“Take me to, um, Agra… actually no, Jaipur”</a:t>
            </a:r>
          </a:p>
          <a:p>
            <a:pPr algn="l">
              <a:spcAft>
                <a:spcPts val="6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Plans Agra while you speak, drops it on the correction, and starts navigation once — to Jaipur.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685800" y="5961888"/>
            <a:ext cx="10835640" cy="457200"/>
          </a:xfrm>
          <a:prstGeom prst="roundRect">
            <a:avLst>
              <a:gd name="adj" fmla="val 20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7" name="TextBox 126"/>
          <p:cNvSpPr txBox="1"/>
          <p:nvPr/>
        </p:nvSpPr>
        <p:spPr>
          <a:xfrm>
            <a:off x="868680" y="6035040"/>
            <a:ext cx="10515600" cy="284693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r>
              <a:rPr sz="1250" b="1" i="0" dirty="0">
                <a:solidFill>
                  <a:srgbClr val="6D28D9"/>
                </a:solidFill>
                <a:latin typeface="Calibri"/>
              </a:rPr>
              <a:t>Demo video (under 5 min): </a:t>
            </a:r>
            <a:r>
              <a:rPr lang="en-IN" sz="1250" b="1" dirty="0">
                <a:solidFill>
                  <a:srgbClr val="6D28D9"/>
                </a:solidFill>
                <a:latin typeface="Calibri"/>
              </a:rPr>
              <a:t>https://www.youtube.com/watch?v=UI59hoOJY4A</a:t>
            </a:r>
            <a:endParaRPr sz="1250" b="0" i="0" dirty="0">
              <a:solidFill>
                <a:srgbClr val="63637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868680" y="1572768"/>
            <a:ext cx="1046988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0" i="0">
                <a:solidFill>
                  <a:srgbClr val="14142B"/>
                </a:solidFill>
                <a:latin typeface="Calibri"/>
              </a:rPr>
              <a:t>Everything runs on free tiers or locally — no paid API or service anywhere in the stack.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868680" y="2148840"/>
            <a:ext cx="3337560" cy="416052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28" name="Rounded Rectangle 127"/>
          <p:cNvSpPr/>
          <p:nvPr/>
        </p:nvSpPr>
        <p:spPr>
          <a:xfrm>
            <a:off x="868680" y="2148840"/>
            <a:ext cx="3337560" cy="50292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109728" bIns="54864" rtlCol="0" anchor="ctr"/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Voice agent (benchmark)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97280" y="2788920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LiveKit Agents 1.8.3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rooms, turn handling, fallback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7280" y="3364991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Silero VAD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voice activity, local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97280" y="3941063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Groq whisper-large-v3-turbo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speech-to-text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7280" y="4517136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NVIDIA gpt-oss-20b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tool-calling LLM, seed 7, temp 0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97280" y="5093208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Groq gpt-oss-120b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backup LLM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97280" y="5669279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Piper en_US-ljspeech-medium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local voice, SHA-256 pinned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4407408" y="2148840"/>
            <a:ext cx="3337560" cy="4160520"/>
          </a:xfrm>
          <a:prstGeom prst="roundRect">
            <a:avLst>
              <a:gd name="adj" fmla="val 120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6" name="Rounded Rectangle 135"/>
          <p:cNvSpPr/>
          <p:nvPr/>
        </p:nvSpPr>
        <p:spPr>
          <a:xfrm>
            <a:off x="4407408" y="2148840"/>
            <a:ext cx="3337560" cy="502920"/>
          </a:xfrm>
          <a:prstGeom prst="roundRect">
            <a:avLst>
              <a:gd name="adj" fmla="val 2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109728" bIns="54864" rtlCol="0" anchor="ctr"/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Web app &amp; Drive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636008" y="2788920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Python 3.11 · FastAPI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WebSocket streaming backend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636008" y="3364991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React · Vite · Zustand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live UI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4636008" y="3941063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Tailwind CSS v4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light &amp; dark themes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636008" y="4517136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Web Speech API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mic + voice in Chrome/Edge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636008" y="5093208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SQLite + scrypt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accounts, hashed sessions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636008" y="5669279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Groq gpt-oss-120b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general answers (optional)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7946136" y="2148840"/>
            <a:ext cx="3337560" cy="416052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4" name="Rounded Rectangle 143"/>
          <p:cNvSpPr/>
          <p:nvPr/>
        </p:nvSpPr>
        <p:spPr>
          <a:xfrm>
            <a:off x="7946136" y="2148840"/>
            <a:ext cx="3337560" cy="502920"/>
          </a:xfrm>
          <a:prstGeom prst="roundRect">
            <a:avLst>
              <a:gd name="adj" fmla="val 20000"/>
            </a:avLst>
          </a:prstGeom>
          <a:solidFill>
            <a:srgbClr val="2F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54864" rIns="109728" bIns="54864" rtlCol="0" anchor="ctr"/>
          <a:lstStyle/>
          <a:p>
            <a:pPr algn="l"/>
            <a:r>
              <a:rPr sz="1450" b="1" i="0">
                <a:solidFill>
                  <a:srgbClr val="FFFFFF"/>
                </a:solidFill>
                <a:latin typeface="Calibri"/>
              </a:rPr>
              <a:t>Evaluation &amp; quality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8174736" y="2788920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Full-Duplex-Bench v3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pinned commit, official scripts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174736" y="3364991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run_fdb_v3.sh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one command: install → run → score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174736" y="3941063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pytest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871 backend tests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174736" y="4517136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Playwright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7 real-browser suites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8174736" y="5093208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GitHub Actions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CI on every push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8174736" y="5669279"/>
            <a:ext cx="2971800" cy="56692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Pinned versions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requirements + seed recorded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TextBox 131"/>
          <p:cNvSpPr txBox="1"/>
          <p:nvPr/>
        </p:nvSpPr>
        <p:spPr>
          <a:xfrm>
            <a:off x="868680" y="1572768"/>
            <a:ext cx="1046988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0" i="0">
                <a:solidFill>
                  <a:srgbClr val="14142B"/>
                </a:solidFill>
                <a:latin typeface="Calibri"/>
              </a:rPr>
              <a:t>Where interruptions matter most: a driver who can't look at a screen and changes plans mid-sentence.</a:t>
            </a:r>
          </a:p>
        </p:txBody>
      </p:sp>
      <p:sp>
        <p:nvSpPr>
          <p:cNvPr id="133" name="Rounded Rectangle 132"/>
          <p:cNvSpPr/>
          <p:nvPr/>
        </p:nvSpPr>
        <p:spPr>
          <a:xfrm>
            <a:off x="868680" y="2148840"/>
            <a:ext cx="5760720" cy="416052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4" name="TextBox 133"/>
          <p:cNvSpPr txBox="1"/>
          <p:nvPr/>
        </p:nvSpPr>
        <p:spPr>
          <a:xfrm>
            <a:off x="1097280" y="2286000"/>
            <a:ext cx="539496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Use case: Drive — an in-car voice assistant for India</a:t>
            </a:r>
          </a:p>
        </p:txBody>
      </p:sp>
      <p:sp>
        <p:nvSpPr>
          <p:cNvPr id="135" name="Oval 134"/>
          <p:cNvSpPr/>
          <p:nvPr/>
        </p:nvSpPr>
        <p:spPr>
          <a:xfrm>
            <a:off x="1097280" y="2898648"/>
            <a:ext cx="237744" cy="23774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1463040" y="2834640"/>
            <a:ext cx="5029200" cy="6583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14142B"/>
                </a:solidFill>
                <a:latin typeface="Calibri"/>
              </a:rPr>
              <a:t>Change of mind mid-sentence</a:t>
            </a:r>
          </a:p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“Agra… actually no, Jaipur” → acts only on Jaipur</a:t>
            </a:r>
          </a:p>
        </p:txBody>
      </p:sp>
      <p:sp>
        <p:nvSpPr>
          <p:cNvPr id="137" name="Oval 136"/>
          <p:cNvSpPr/>
          <p:nvPr/>
        </p:nvSpPr>
        <p:spPr>
          <a:xfrm>
            <a:off x="1097280" y="3575303"/>
            <a:ext cx="237744" cy="23774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1463040" y="3511296"/>
            <a:ext cx="5029200" cy="6583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14142B"/>
                </a:solidFill>
                <a:latin typeface="Calibri"/>
              </a:rPr>
              <a:t>“Hold on” / “go on”</a:t>
            </a:r>
          </a:p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pauses on request, resumes from where you stopped listening</a:t>
            </a:r>
          </a:p>
        </p:txBody>
      </p:sp>
      <p:sp>
        <p:nvSpPr>
          <p:cNvPr id="139" name="Oval 138"/>
          <p:cNvSpPr/>
          <p:nvPr/>
        </p:nvSpPr>
        <p:spPr>
          <a:xfrm>
            <a:off x="1097280" y="4251960"/>
            <a:ext cx="237744" cy="23774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0" name="TextBox 139"/>
          <p:cNvSpPr txBox="1"/>
          <p:nvPr/>
        </p:nvSpPr>
        <p:spPr>
          <a:xfrm>
            <a:off x="1463040" y="4187952"/>
            <a:ext cx="5029200" cy="6583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14142B"/>
                </a:solidFill>
                <a:latin typeface="Calibri"/>
              </a:rPr>
              <a:t>Add stops on the way</a:t>
            </a:r>
          </a:p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the old route goes stale and is recomputed with the stop</a:t>
            </a:r>
          </a:p>
        </p:txBody>
      </p:sp>
      <p:sp>
        <p:nvSpPr>
          <p:cNvPr id="141" name="Oval 140"/>
          <p:cNvSpPr/>
          <p:nvPr/>
        </p:nvSpPr>
        <p:spPr>
          <a:xfrm>
            <a:off x="1097280" y="4928616"/>
            <a:ext cx="237744" cy="23774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1463040" y="4864608"/>
            <a:ext cx="5029200" cy="6583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14142B"/>
                </a:solidFill>
                <a:latin typeface="Calibri"/>
              </a:rPr>
              <a:t>Ask twice, start once</a:t>
            </a:r>
          </a:p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a repeated request never starts navigation a second time</a:t>
            </a:r>
          </a:p>
        </p:txBody>
      </p:sp>
      <p:sp>
        <p:nvSpPr>
          <p:cNvPr id="143" name="Oval 142"/>
          <p:cNvSpPr/>
          <p:nvPr/>
        </p:nvSpPr>
        <p:spPr>
          <a:xfrm>
            <a:off x="1097280" y="5605272"/>
            <a:ext cx="237744" cy="23774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4" name="TextBox 143"/>
          <p:cNvSpPr txBox="1"/>
          <p:nvPr/>
        </p:nvSpPr>
        <p:spPr>
          <a:xfrm>
            <a:off x="1463040" y="5541264"/>
            <a:ext cx="5029200" cy="65836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00" b="1" i="0">
                <a:solidFill>
                  <a:srgbClr val="14142B"/>
                </a:solidFill>
                <a:latin typeface="Calibri"/>
              </a:rPr>
              <a:t>Works offline</a:t>
            </a:r>
          </a:p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no map service or API key needed for the demo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6858000" y="2148840"/>
            <a:ext cx="4480560" cy="128016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6858000" y="2313432"/>
            <a:ext cx="64008" cy="95097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7086600" y="2276856"/>
            <a:ext cx="411480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Safer hands-free use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7086600" y="2572131"/>
            <a:ext cx="4114800" cy="731519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The driver corrects by voice; no need to look at or tap a screen to undo a mistake.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6858000" y="3566160"/>
            <a:ext cx="4480560" cy="1280160"/>
          </a:xfrm>
          <a:prstGeom prst="roundRect">
            <a:avLst>
              <a:gd name="adj" fmla="val 120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6858000" y="3730752"/>
            <a:ext cx="64008" cy="950976"/>
          </a:xfrm>
          <a:prstGeom prst="rect">
            <a:avLst/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7086600" y="3694176"/>
            <a:ext cx="411480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No double or stale actions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086600" y="3989451"/>
            <a:ext cx="4114800" cy="731519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At-most-once commits: no second booking, payment or navigation from a repeated or corrected request.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6858000" y="4983480"/>
            <a:ext cx="4480560" cy="128016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6858000" y="5148072"/>
            <a:ext cx="64008" cy="950976"/>
          </a:xfrm>
          <a:prstGeom prst="rect">
            <a:avLst/>
          </a:prstGeom>
          <a:solidFill>
            <a:srgbClr val="2F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7086600" y="5111496"/>
            <a:ext cx="411480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500" b="1" i="0">
                <a:solidFill>
                  <a:srgbClr val="14142B"/>
                </a:solidFill>
                <a:latin typeface="Calibri"/>
              </a:rPr>
              <a:t>Beyond the car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7086600" y="5406771"/>
            <a:ext cx="4114800" cy="731519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Same gate works for support, banking, travel and housing — the four domains of the benchmark.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868680" y="178308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39" name="TextBox 138"/>
          <p:cNvSpPr txBox="1"/>
          <p:nvPr/>
        </p:nvSpPr>
        <p:spPr>
          <a:xfrm>
            <a:off x="1051560" y="1801368"/>
            <a:ext cx="219456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 i="0">
                <a:solidFill>
                  <a:srgbClr val="6D28D9"/>
                </a:solidFill>
                <a:latin typeface="Calibri"/>
              </a:rPr>
              <a:t>56%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51560" y="2331720"/>
            <a:ext cx="22402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strict pass rate</a:t>
            </a:r>
          </a:p>
          <a:p>
            <a:pPr algn="l"/>
            <a:r>
              <a:rPr sz="1050" b="0" i="0">
                <a:solidFill>
                  <a:srgbClr val="63637E"/>
                </a:solidFill>
                <a:latin typeface="Calibri"/>
              </a:rPr>
              <a:t>all 100 recordings, audio via LiveKit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3547872" y="178308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2" name="TextBox 141"/>
          <p:cNvSpPr txBox="1"/>
          <p:nvPr/>
        </p:nvSpPr>
        <p:spPr>
          <a:xfrm>
            <a:off x="3730752" y="1801368"/>
            <a:ext cx="219456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 i="0">
                <a:solidFill>
                  <a:srgbClr val="6D28D9"/>
                </a:solidFill>
                <a:latin typeface="Calibri"/>
              </a:rPr>
              <a:t>99%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730752" y="2331720"/>
            <a:ext cx="22402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turn-taking</a:t>
            </a:r>
          </a:p>
          <a:p>
            <a:pPr algn="l"/>
            <a:r>
              <a:rPr sz="1050" b="0" i="0">
                <a:solidFill>
                  <a:srgbClr val="63637E"/>
                </a:solidFill>
                <a:latin typeface="Calibri"/>
              </a:rPr>
              <a:t>the agent answered 99 of 100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6227064" y="178308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6409944" y="1801368"/>
            <a:ext cx="2194560" cy="553998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 i="0" dirty="0">
                <a:solidFill>
                  <a:srgbClr val="6D28D9"/>
                </a:solidFill>
                <a:latin typeface="Calibri"/>
              </a:rPr>
              <a:t>9</a:t>
            </a:r>
            <a:r>
              <a:rPr lang="en-US" sz="3000" b="1" i="0" dirty="0">
                <a:solidFill>
                  <a:srgbClr val="6D28D9"/>
                </a:solidFill>
                <a:latin typeface="Calibri"/>
              </a:rPr>
              <a:t>7</a:t>
            </a:r>
            <a:r>
              <a:rPr sz="3000" b="1" i="0" dirty="0">
                <a:solidFill>
                  <a:srgbClr val="6D28D9"/>
                </a:solidFill>
                <a:latin typeface="Calibri"/>
              </a:rPr>
              <a:t>%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409944" y="2331720"/>
            <a:ext cx="22402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right tool chosen</a:t>
            </a:r>
          </a:p>
          <a:p>
            <a:pPr algn="l"/>
            <a:r>
              <a:rPr sz="1050" b="0" i="0">
                <a:solidFill>
                  <a:srgbClr val="63637E"/>
                </a:solidFill>
                <a:latin typeface="Calibri"/>
              </a:rPr>
              <a:t>tool selection accuracy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8906256" y="1783080"/>
            <a:ext cx="2514600" cy="109728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8" name="TextBox 147"/>
          <p:cNvSpPr txBox="1"/>
          <p:nvPr/>
        </p:nvSpPr>
        <p:spPr>
          <a:xfrm>
            <a:off x="9089136" y="1801368"/>
            <a:ext cx="219456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3000" b="1" i="0">
                <a:solidFill>
                  <a:srgbClr val="6D28D9"/>
                </a:solidFill>
                <a:latin typeface="Calibri"/>
              </a:rPr>
              <a:t>4.45 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9089136" y="2331720"/>
            <a:ext cx="22402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average latency</a:t>
            </a:r>
          </a:p>
          <a:p>
            <a:pPr algn="l"/>
            <a:r>
              <a:rPr sz="1050" b="0" i="0">
                <a:solidFill>
                  <a:srgbClr val="63637E"/>
                </a:solidFill>
                <a:latin typeface="Calibri"/>
              </a:rPr>
              <a:t>end of speech → reply</a:t>
            </a:r>
          </a:p>
        </p:txBody>
      </p:sp>
      <p:graphicFrame>
        <p:nvGraphicFramePr>
          <p:cNvPr id="150" name="Chart 149"/>
          <p:cNvGraphicFramePr>
            <a:graphicFrameLocks noGrp="1"/>
          </p:cNvGraphicFramePr>
          <p:nvPr/>
        </p:nvGraphicFramePr>
        <p:xfrm>
          <a:off x="731520" y="3108960"/>
          <a:ext cx="539496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1" name="Rounded Rectangle 150"/>
          <p:cNvSpPr/>
          <p:nvPr/>
        </p:nvSpPr>
        <p:spPr>
          <a:xfrm>
            <a:off x="6355080" y="3108960"/>
            <a:ext cx="4983480" cy="1536192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6355080" y="3273552"/>
            <a:ext cx="64008" cy="1207007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6583680" y="3236976"/>
            <a:ext cx="461772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Innovation highlights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583680" y="3512566"/>
            <a:ext cx="4617720" cy="987552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BACKSPACE gate: stale tool calls blocked before they run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Backup LLM answered 12 of 384 requests while NVIDIA was failing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Speculative retrieval + checkpoint resume; time to yield &lt; 1 ms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6355080" y="4754880"/>
            <a:ext cx="4983480" cy="1600200"/>
          </a:xfrm>
          <a:prstGeom prst="roundRect">
            <a:avLst>
              <a:gd name="adj" fmla="val 12000"/>
            </a:avLst>
          </a:prstGeom>
          <a:solidFill>
            <a:srgbClr val="FDF3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6355080" y="4919472"/>
            <a:ext cx="64008" cy="1271016"/>
          </a:xfrm>
          <a:prstGeom prst="rect">
            <a:avLst/>
          </a:prstGeom>
          <a:solidFill>
            <a:srgbClr val="B45A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7" name="TextBox 156"/>
          <p:cNvSpPr txBox="1"/>
          <p:nvPr/>
        </p:nvSpPr>
        <p:spPr>
          <a:xfrm>
            <a:off x="6583680" y="4882896"/>
            <a:ext cx="461772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400" b="1" i="0">
                <a:solidFill>
                  <a:srgbClr val="14142B"/>
                </a:solidFill>
                <a:latin typeface="Calibri"/>
              </a:rPr>
              <a:t>Limitations (and what caused them)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6583680" y="5158486"/>
            <a:ext cx="4617720" cy="10515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Pauses read as the end of a request: most of the 16 audio-only failures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Spelled codes misheard (“F a s t nine nine” for FAST99)</a:t>
            </a:r>
          </a:p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•  3-step requests pass 25%; average latency 4.45 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44" name="TextBox 143"/>
          <p:cNvSpPr txBox="1"/>
          <p:nvPr/>
        </p:nvSpPr>
        <p:spPr>
          <a:xfrm>
            <a:off x="868680" y="1572768"/>
            <a:ext cx="1046988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0" i="0">
                <a:solidFill>
                  <a:srgbClr val="14142B"/>
                </a:solidFill>
                <a:latin typeface="Calibri"/>
              </a:rPr>
              <a:t>Each next step comes straight from a measured failure, so each one can be checked with the same benchmark.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868680" y="2194560"/>
            <a:ext cx="3337560" cy="406908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46" name="Rounded Rectangle 145"/>
          <p:cNvSpPr/>
          <p:nvPr/>
        </p:nvSpPr>
        <p:spPr>
          <a:xfrm>
            <a:off x="1097280" y="23774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NOW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97280" y="2761488"/>
            <a:ext cx="292608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Measure the fixes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97280" y="3291840"/>
            <a:ext cx="292608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Rerun all 100 recordings with the 1.2 s turn wait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targets the pause failures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97280" y="4251960"/>
            <a:ext cx="292608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Join spelled-out codes into one ID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“F a s t nine nine” → FAST99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097280" y="5212080"/>
            <a:ext cx="292608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Report both runs side by side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keep the better setting</a:t>
            </a:r>
          </a:p>
        </p:txBody>
      </p:sp>
      <p:cxnSp>
        <p:nvCxnSpPr>
          <p:cNvPr id="151" name="Connector 150"/>
          <p:cNvCxnSpPr/>
          <p:nvPr/>
        </p:nvCxnSpPr>
        <p:spPr>
          <a:xfrm>
            <a:off x="4224528" y="4206240"/>
            <a:ext cx="164592" cy="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Rounded Rectangle 151"/>
          <p:cNvSpPr/>
          <p:nvPr/>
        </p:nvSpPr>
        <p:spPr>
          <a:xfrm>
            <a:off x="4407408" y="2194560"/>
            <a:ext cx="3337560" cy="4069080"/>
          </a:xfrm>
          <a:prstGeom prst="roundRect">
            <a:avLst>
              <a:gd name="adj" fmla="val 120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3" name="Rounded Rectangle 152"/>
          <p:cNvSpPr/>
          <p:nvPr/>
        </p:nvSpPr>
        <p:spPr>
          <a:xfrm>
            <a:off x="4636008" y="23774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3B5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NEXT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636008" y="2761488"/>
            <a:ext cx="292608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Faster and smarter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4636008" y="3291840"/>
            <a:ext cx="292608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Streaming speech-to-text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cut the 4.45 s average latency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4636008" y="4251960"/>
            <a:ext cx="292608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Stronger model for 3-step requests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tested on the free text replay first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636008" y="5212080"/>
            <a:ext cx="292608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Tune LiveKit's turn detector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fewer premature turns</a:t>
            </a:r>
          </a:p>
        </p:txBody>
      </p:sp>
      <p:cxnSp>
        <p:nvCxnSpPr>
          <p:cNvPr id="158" name="Connector 157"/>
          <p:cNvCxnSpPr/>
          <p:nvPr/>
        </p:nvCxnSpPr>
        <p:spPr>
          <a:xfrm>
            <a:off x="7763256" y="4206240"/>
            <a:ext cx="164592" cy="0"/>
          </a:xfrm>
          <a:prstGeom prst="line">
            <a:avLst/>
          </a:prstGeom>
          <a:ln w="19050">
            <a:solidFill>
              <a:srgbClr val="63637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Rounded Rectangle 158"/>
          <p:cNvSpPr/>
          <p:nvPr/>
        </p:nvSpPr>
        <p:spPr>
          <a:xfrm>
            <a:off x="7946136" y="2194560"/>
            <a:ext cx="3337560" cy="406908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0" name="Rounded Rectangle 159"/>
          <p:cNvSpPr/>
          <p:nvPr/>
        </p:nvSpPr>
        <p:spPr>
          <a:xfrm>
            <a:off x="8174736" y="237744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2F9E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0" rIns="109728" bIns="0" rtlCol="0" anchor="ctr"/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LATER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174736" y="2761488"/>
            <a:ext cx="2926080" cy="4114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600" b="1" i="0">
                <a:solidFill>
                  <a:srgbClr val="14142B"/>
                </a:solidFill>
                <a:latin typeface="Calibri"/>
              </a:rPr>
              <a:t>Take Drive on the road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174736" y="3291840"/>
            <a:ext cx="292608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Real maps and live traffic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replace the offline route data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8174736" y="4251960"/>
            <a:ext cx="292608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Hindi and Hinglish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how Indian drivers actually speak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174736" y="5212080"/>
            <a:ext cx="2926080" cy="9144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250" b="1" i="0">
                <a:solidFill>
                  <a:srgbClr val="14142B"/>
                </a:solidFill>
                <a:latin typeface="Calibri"/>
              </a:rPr>
              <a:t>On-device models</a:t>
            </a:r>
          </a:p>
          <a:p>
            <a:pPr algn="l"/>
            <a:r>
              <a:rPr sz="1100" b="0" i="0">
                <a:solidFill>
                  <a:srgbClr val="63637E"/>
                </a:solidFill>
                <a:latin typeface="Calibri"/>
              </a:rPr>
              <a:t>keep working without a signal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sz="4400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sz="4400" b="1">
              <a:solidFill>
                <a:srgbClr val="704EA6"/>
              </a:solidFill>
            </a:endParaRPr>
          </a:p>
        </p:txBody>
      </p:sp>
      <p:sp>
        <p:nvSpPr>
          <p:cNvPr id="150" name="TextBox 149"/>
          <p:cNvSpPr txBox="1"/>
          <p:nvPr/>
        </p:nvSpPr>
        <p:spPr>
          <a:xfrm>
            <a:off x="868680" y="1572768"/>
            <a:ext cx="10469880" cy="45720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700" b="0" i="0">
                <a:solidFill>
                  <a:srgbClr val="14142B"/>
                </a:solidFill>
                <a:latin typeface="Calibri"/>
              </a:rPr>
              <a:t>What sets Interject apart: it is free to reproduce, tested end to end, and honest about what it knows.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868680" y="2148840"/>
            <a:ext cx="3337560" cy="192024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1097280" y="2258568"/>
            <a:ext cx="29260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2800" b="1" i="0">
                <a:solidFill>
                  <a:srgbClr val="6D28D9"/>
                </a:solidFill>
                <a:latin typeface="Calibri"/>
              </a:rPr>
              <a:t>₹0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97280" y="2807208"/>
            <a:ext cx="29260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142B"/>
                </a:solidFill>
                <a:latin typeface="Calibri"/>
              </a:rPr>
              <a:t>to reproduce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97280" y="3136392"/>
            <a:ext cx="2926080" cy="8686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Every provider is a free tier or local. One command installs, runs and scores the benchmark.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4407408" y="2148840"/>
            <a:ext cx="3337560" cy="1920240"/>
          </a:xfrm>
          <a:prstGeom prst="roundRect">
            <a:avLst>
              <a:gd name="adj" fmla="val 120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4636008" y="2258568"/>
            <a:ext cx="29260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2800" b="1" i="0">
                <a:solidFill>
                  <a:srgbClr val="3B5BDB"/>
                </a:solidFill>
                <a:latin typeface="Calibri"/>
              </a:rPr>
              <a:t>871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4636008" y="2807208"/>
            <a:ext cx="29260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142B"/>
                </a:solidFill>
                <a:latin typeface="Calibri"/>
              </a:rPr>
              <a:t>backend tests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636008" y="3136392"/>
            <a:ext cx="2926080" cy="8686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Plus 7 real-browser suites and CI on every push. No test weakened to pass.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7946136" y="2148840"/>
            <a:ext cx="3337560" cy="192024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174736" y="2258568"/>
            <a:ext cx="29260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2800" b="1" i="0">
                <a:solidFill>
                  <a:srgbClr val="2F9E8A"/>
                </a:solidFill>
                <a:latin typeface="Calibri"/>
              </a:rPr>
              <a:t>12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8174736" y="2807208"/>
            <a:ext cx="29260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142B"/>
                </a:solidFill>
                <a:latin typeface="Calibri"/>
              </a:rPr>
              <a:t>backup answers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8174736" y="3136392"/>
            <a:ext cx="2926080" cy="8686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In the full run the backup model answered 12 of 384 requests while NVIDIA’s free endpoint was failing.</a:t>
            </a:r>
          </a:p>
        </p:txBody>
      </p:sp>
      <p:sp>
        <p:nvSpPr>
          <p:cNvPr id="163" name="Rounded Rectangle 162"/>
          <p:cNvSpPr/>
          <p:nvPr/>
        </p:nvSpPr>
        <p:spPr>
          <a:xfrm>
            <a:off x="868680" y="4251960"/>
            <a:ext cx="3337560" cy="1920240"/>
          </a:xfrm>
          <a:prstGeom prst="roundRect">
            <a:avLst>
              <a:gd name="adj" fmla="val 12000"/>
            </a:avLst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4" name="TextBox 163"/>
          <p:cNvSpPr txBox="1"/>
          <p:nvPr/>
        </p:nvSpPr>
        <p:spPr>
          <a:xfrm>
            <a:off x="1097280" y="4361688"/>
            <a:ext cx="29260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2800" b="1" i="0">
                <a:solidFill>
                  <a:srgbClr val="6D28D9"/>
                </a:solidFill>
                <a:latin typeface="Calibri"/>
              </a:rPr>
              <a:t>&lt; 1 ms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097280" y="4910328"/>
            <a:ext cx="29260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142B"/>
                </a:solidFill>
                <a:latin typeface="Calibri"/>
              </a:rPr>
              <a:t>to stop talking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097280" y="5239512"/>
            <a:ext cx="2926080" cy="8686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A barge-in cancels the turn at once, and the checkpoint keeps what was already said.</a:t>
            </a:r>
          </a:p>
        </p:txBody>
      </p:sp>
      <p:sp>
        <p:nvSpPr>
          <p:cNvPr id="167" name="Rounded Rectangle 166"/>
          <p:cNvSpPr/>
          <p:nvPr/>
        </p:nvSpPr>
        <p:spPr>
          <a:xfrm>
            <a:off x="4407408" y="4251960"/>
            <a:ext cx="3337560" cy="1920240"/>
          </a:xfrm>
          <a:prstGeom prst="roundRect">
            <a:avLst>
              <a:gd name="adj" fmla="val 12000"/>
            </a:avLst>
          </a:prstGeom>
          <a:solidFill>
            <a:srgbClr val="EE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68" name="TextBox 167"/>
          <p:cNvSpPr txBox="1"/>
          <p:nvPr/>
        </p:nvSpPr>
        <p:spPr>
          <a:xfrm>
            <a:off x="4636008" y="4361688"/>
            <a:ext cx="29260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2800" b="1" i="0">
                <a:solidFill>
                  <a:srgbClr val="3B5BDB"/>
                </a:solidFill>
                <a:latin typeface="Calibri"/>
              </a:rPr>
              <a:t>0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36008" y="4910328"/>
            <a:ext cx="29260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142B"/>
                </a:solidFill>
                <a:latin typeface="Calibri"/>
              </a:rPr>
              <a:t>hardcoded answers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4636008" y="5239512"/>
            <a:ext cx="2926080" cy="8686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A test proves the agent's rules never quote benchmark data; fixes are general rules.</a:t>
            </a:r>
          </a:p>
        </p:txBody>
      </p:sp>
      <p:sp>
        <p:nvSpPr>
          <p:cNvPr id="171" name="Rounded Rectangle 170"/>
          <p:cNvSpPr/>
          <p:nvPr/>
        </p:nvSpPr>
        <p:spPr>
          <a:xfrm>
            <a:off x="7946136" y="4251960"/>
            <a:ext cx="3337560" cy="1920240"/>
          </a:xfrm>
          <a:prstGeom prst="roundRect">
            <a:avLst>
              <a:gd name="adj" fmla="val 12000"/>
            </a:avLst>
          </a:prstGeom>
          <a:solidFill>
            <a:srgbClr val="E9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54864" rIns="109728" bIns="54864" rtlCol="0" anchor="ctr"/>
          <a:lstStyle/>
          <a:p>
            <a:pPr algn="ctr"/>
            <a:endParaRPr/>
          </a:p>
        </p:txBody>
      </p:sp>
      <p:sp>
        <p:nvSpPr>
          <p:cNvPr id="172" name="TextBox 171"/>
          <p:cNvSpPr txBox="1"/>
          <p:nvPr/>
        </p:nvSpPr>
        <p:spPr>
          <a:xfrm>
            <a:off x="8174736" y="4361688"/>
            <a:ext cx="2926080" cy="5486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2800" b="1" i="0">
                <a:solidFill>
                  <a:srgbClr val="2F9E8A"/>
                </a:solidFill>
                <a:latin typeface="Calibri"/>
              </a:rPr>
              <a:t>Honest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8174736" y="4910328"/>
            <a:ext cx="2926080" cy="32004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350" b="1" i="0">
                <a:solidFill>
                  <a:srgbClr val="14142B"/>
                </a:solidFill>
                <a:latin typeface="Calibri"/>
              </a:rPr>
              <a:t>by design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8174736" y="5239512"/>
            <a:ext cx="2926080" cy="86868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/>
            <a:r>
              <a:rPr sz="1150" b="0" i="0">
                <a:solidFill>
                  <a:srgbClr val="63637E"/>
                </a:solidFill>
                <a:latin typeface="Calibri"/>
              </a:rPr>
              <a:t>Offline mode says so, the demo knowledge base is marked fictional, and no action is claimed unless it ran.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or shared GitHub repo (Y/N)</a:t>
            </a:r>
            <a:r>
              <a:rPr sz="2800" b="1" dirty="0">
                <a:solidFill>
                  <a:srgbClr val="6D28D9"/>
                </a:solidFill>
              </a:rPr>
              <a:t>   Y</a:t>
            </a:r>
            <a:endParaRPr sz="2800" dirty="0"/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 (Y/N)</a:t>
            </a:r>
            <a:r>
              <a:rPr sz="2800" b="1" dirty="0">
                <a:solidFill>
                  <a:srgbClr val="6D28D9"/>
                </a:solidFill>
              </a:rPr>
              <a:t>   Y</a:t>
            </a:r>
            <a:endParaRPr sz="2800" dirty="0"/>
          </a:p>
          <a:p>
            <a:pPr marL="177800" lvl="0" indent="-177800">
              <a:spcBef>
                <a:spcPts val="1500"/>
              </a:spcBef>
              <a:buClr>
                <a:srgbClr val="63637E"/>
              </a:buClr>
              <a:buSzPts val="2800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 (YouTube or Drive link)</a:t>
            </a:r>
            <a:r>
              <a:rPr sz="2800" b="1" dirty="0">
                <a:solidFill>
                  <a:srgbClr val="B45A09"/>
                </a:solidFill>
              </a:rPr>
              <a:t> </a:t>
            </a:r>
            <a:r>
              <a:rPr lang="en-IN" b="1" dirty="0">
                <a:solidFill>
                  <a:srgbClr val="7030A0"/>
                </a:solidFill>
              </a:rPr>
              <a:t>https://www.youtube.com/watch?v=UI59hoOJY4A</a:t>
            </a:r>
            <a:endParaRPr sz="2800" dirty="0">
              <a:solidFill>
                <a:srgbClr val="7030A0"/>
              </a:solidFill>
            </a:endParaRPr>
          </a:p>
          <a:p>
            <a:pPr marL="177800" lvl="0" indent="-17780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800" dirty="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 (Y/N)</a:t>
            </a:r>
            <a:r>
              <a:rPr sz="2800" b="1" dirty="0">
                <a:solidFill>
                  <a:srgbClr val="6D28D9"/>
                </a:solidFill>
              </a:rPr>
              <a:t>   Y</a:t>
            </a:r>
            <a:endParaRPr sz="2800" dirty="0"/>
          </a:p>
          <a:p>
            <a:pPr marL="0" lvl="0" indent="0" algn="l" rtl="0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57" name="TextBox 156"/>
          <p:cNvSpPr txBox="1"/>
          <p:nvPr/>
        </p:nvSpPr>
        <p:spPr>
          <a:xfrm>
            <a:off x="960120" y="4983480"/>
            <a:ext cx="10241280" cy="822960"/>
          </a:xfrm>
          <a:prstGeom prst="rect">
            <a:avLst/>
          </a:prstGeom>
          <a:noFill/>
        </p:spPr>
        <p:txBody>
          <a:bodyPr wrap="square" lIns="18288" rIns="18288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Repository: </a:t>
            </a:r>
            <a:r>
              <a:rPr sz="1500" b="0" i="0">
                <a:solidFill>
                  <a:srgbClr val="6D28D9"/>
                </a:solidFill>
                <a:latin typeface="Calibri"/>
              </a:rPr>
              <a:t>github.com/joannamariyajames/interjectsamsung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63637E"/>
                </a:solidFill>
                <a:latin typeface="Calibri"/>
              </a:rPr>
              <a:t>README: judges' quick start (no keys needed for the app) and a one-command benchmark run.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lang="en-US" sz="4600" b="1" i="0" u="none" strike="noStrike" cap="non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sz="4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lang="en-US" sz="1100" b="0" i="0" u="none" strike="noStrike" cap="non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1736</Words>
  <Application>Microsoft Office PowerPoint</Application>
  <PresentationFormat>Widescreen</PresentationFormat>
  <Paragraphs>223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Theme</vt:lpstr>
      <vt:lpstr>Existing Solutions &amp; Gaps</vt:lpstr>
      <vt:lpstr>Our Solutions &amp; Architecture Diagram</vt:lpstr>
      <vt:lpstr>Demo &amp; Product Walkthrough</vt:lpstr>
      <vt:lpstr>Tools and tech stack used</vt:lpstr>
      <vt:lpstr>Impact &amp; Use case</vt:lpstr>
      <vt:lpstr>Innovation highlights, results and limitations</vt:lpstr>
      <vt:lpstr>What’s next</vt:lpstr>
      <vt:lpstr>Brownie points slide( differentiation)</vt:lpstr>
      <vt:lpstr>Checklist- Updated on Public GitHub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Binny Lakra/PRISM /SRI-Bangalore/Professional/Samsung Electronics</dc:creator>
  <cp:lastModifiedBy>Lakshya Jaiswal</cp:lastModifiedBy>
  <cp:revision>4</cp:revision>
  <dcterms:created xsi:type="dcterms:W3CDTF">2026-09-07T12:01:01Z</dcterms:created>
  <dcterms:modified xsi:type="dcterms:W3CDTF">2026-09-30T17:27:22Z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